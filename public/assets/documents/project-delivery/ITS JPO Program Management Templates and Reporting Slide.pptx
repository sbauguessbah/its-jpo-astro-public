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bold r:id="rId7"/>
      <p:boldItalic r:id="rId8"/>
    </p:embeddedFont>
    <p:embeddedFont>
      <p:font typeface="Roboto SemiBol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SemiBold-italic.fntdata"/><Relationship Id="rId10" Type="http://schemas.openxmlformats.org/officeDocument/2006/relationships/font" Target="fonts/RobotoSemiBold-bold.fntdata"/><Relationship Id="rId12" Type="http://schemas.openxmlformats.org/officeDocument/2006/relationships/font" Target="fonts/RobotoSemiBold-boldItalic.fntdata"/><Relationship Id="rId9" Type="http://schemas.openxmlformats.org/officeDocument/2006/relationships/font" Target="fonts/Roboto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bold.fntdata"/><Relationship Id="rId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9144000" cy="552600"/>
            <a:chOff x="0" y="0"/>
            <a:chExt cx="9144000" cy="5526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9144000" cy="5526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304800" y="76200"/>
              <a:ext cx="8534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U.S. Department of Transportation</a:t>
              </a:r>
              <a:endParaRPr b="1" sz="75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ITS JPO Program Management References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304800" y="647700"/>
            <a:ext cx="8534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Program Management Templates</a:t>
            </a:r>
            <a:endParaRPr/>
          </a:p>
        </p:txBody>
      </p:sp>
      <p:grpSp>
        <p:nvGrpSpPr>
          <p:cNvPr id="58" name="Google Shape;58;p13"/>
          <p:cNvGrpSpPr/>
          <p:nvPr/>
        </p:nvGrpSpPr>
        <p:grpSpPr>
          <a:xfrm>
            <a:off x="304800" y="895350"/>
            <a:ext cx="2019300" cy="533400"/>
            <a:chOff x="0" y="0"/>
            <a:chExt cx="2019300" cy="533400"/>
          </a:xfrm>
        </p:grpSpPr>
        <p:sp>
          <p:nvSpPr>
            <p:cNvPr id="59" name="Google Shape;59;p13"/>
            <p:cNvSpPr/>
            <p:nvPr/>
          </p:nvSpPr>
          <p:spPr>
            <a:xfrm>
              <a:off x="0" y="0"/>
              <a:ext cx="2019300" cy="5334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0" y="0"/>
              <a:ext cx="20193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152400" y="762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293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Monthly Status Report</a:t>
              </a:r>
              <a:endParaRPr/>
            </a:p>
          </p:txBody>
        </p:sp>
      </p:grpSp>
      <p:grpSp>
        <p:nvGrpSpPr>
          <p:cNvPr id="62" name="Google Shape;62;p13"/>
          <p:cNvGrpSpPr/>
          <p:nvPr/>
        </p:nvGrpSpPr>
        <p:grpSpPr>
          <a:xfrm>
            <a:off x="2476500" y="895350"/>
            <a:ext cx="2019300" cy="533400"/>
            <a:chOff x="0" y="0"/>
            <a:chExt cx="2019300" cy="533400"/>
          </a:xfrm>
        </p:grpSpPr>
        <p:sp>
          <p:nvSpPr>
            <p:cNvPr id="63" name="Google Shape;63;p13"/>
            <p:cNvSpPr/>
            <p:nvPr/>
          </p:nvSpPr>
          <p:spPr>
            <a:xfrm>
              <a:off x="0" y="0"/>
              <a:ext cx="2019300" cy="5334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0" y="0"/>
              <a:ext cx="20193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152400" y="762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293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Project Schedule</a:t>
              </a:r>
              <a:endParaRPr/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4648200" y="895350"/>
            <a:ext cx="2019300" cy="533400"/>
            <a:chOff x="0" y="0"/>
            <a:chExt cx="2019300" cy="533400"/>
          </a:xfrm>
        </p:grpSpPr>
        <p:sp>
          <p:nvSpPr>
            <p:cNvPr id="67" name="Google Shape;67;p13"/>
            <p:cNvSpPr/>
            <p:nvPr/>
          </p:nvSpPr>
          <p:spPr>
            <a:xfrm>
              <a:off x="0" y="0"/>
              <a:ext cx="2019300" cy="5334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0" y="0"/>
              <a:ext cx="20193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52400" y="762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293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Risk Register</a:t>
              </a:r>
              <a:endParaRPr/>
            </a:p>
          </p:txBody>
        </p:sp>
      </p:grpSp>
      <p:grpSp>
        <p:nvGrpSpPr>
          <p:cNvPr id="70" name="Google Shape;70;p13"/>
          <p:cNvGrpSpPr/>
          <p:nvPr/>
        </p:nvGrpSpPr>
        <p:grpSpPr>
          <a:xfrm>
            <a:off x="6819900" y="895350"/>
            <a:ext cx="2019300" cy="533400"/>
            <a:chOff x="0" y="0"/>
            <a:chExt cx="2019300" cy="533400"/>
          </a:xfrm>
        </p:grpSpPr>
        <p:sp>
          <p:nvSpPr>
            <p:cNvPr id="71" name="Google Shape;71;p13"/>
            <p:cNvSpPr/>
            <p:nvPr/>
          </p:nvSpPr>
          <p:spPr>
            <a:xfrm>
              <a:off x="0" y="0"/>
              <a:ext cx="2019300" cy="5334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0" y="0"/>
              <a:ext cx="2019300" cy="381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 txBox="1"/>
            <p:nvPr/>
          </p:nvSpPr>
          <p:spPr>
            <a:xfrm>
              <a:off x="152400" y="762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293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Communication Plan</a:t>
              </a:r>
              <a:endParaRPr/>
            </a:p>
          </p:txBody>
        </p:sp>
      </p:grpSp>
      <p:sp>
        <p:nvSpPr>
          <p:cNvPr id="74" name="Google Shape;74;p13"/>
          <p:cNvSpPr txBox="1"/>
          <p:nvPr/>
        </p:nvSpPr>
        <p:spPr>
          <a:xfrm>
            <a:off x="304800" y="1543050"/>
            <a:ext cx="8534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Project Information Submissions</a:t>
            </a:r>
            <a:endParaRPr/>
          </a:p>
        </p:txBody>
      </p:sp>
      <p:grpSp>
        <p:nvGrpSpPr>
          <p:cNvPr id="75" name="Google Shape;75;p13"/>
          <p:cNvGrpSpPr/>
          <p:nvPr/>
        </p:nvGrpSpPr>
        <p:grpSpPr>
          <a:xfrm>
            <a:off x="304800" y="1790700"/>
            <a:ext cx="8534400" cy="285900"/>
            <a:chOff x="0" y="0"/>
            <a:chExt cx="8534400" cy="285900"/>
          </a:xfrm>
        </p:grpSpPr>
        <p:sp>
          <p:nvSpPr>
            <p:cNvPr id="76" name="Google Shape;76;p13"/>
            <p:cNvSpPr/>
            <p:nvPr/>
          </p:nvSpPr>
          <p:spPr>
            <a:xfrm>
              <a:off x="0" y="0"/>
              <a:ext cx="8534400" cy="285900"/>
            </a:xfrm>
            <a:custGeom>
              <a:rect b="b" l="l" r="r" t="t"/>
              <a:pathLst>
                <a:path extrusionOk="0" h="120000" w="120000">
                  <a:moveTo>
                    <a:pt x="804" y="0"/>
                  </a:moveTo>
                  <a:lnTo>
                    <a:pt x="119196" y="0"/>
                  </a:lnTo>
                  <a:cubicBezTo>
                    <a:pt x="119640" y="0"/>
                    <a:pt x="120000" y="10744"/>
                    <a:pt x="120000" y="24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24000"/>
                  </a:lnTo>
                  <a:cubicBezTo>
                    <a:pt x="0" y="10744"/>
                    <a:pt x="360" y="0"/>
                    <a:pt x="804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77" name="Google Shape;77;p13"/>
            <p:cNvSpPr txBox="1"/>
            <p:nvPr/>
          </p:nvSpPr>
          <p:spPr>
            <a:xfrm>
              <a:off x="152400" y="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INFORMATION TYPE</a:t>
              </a:r>
              <a:endParaRPr sz="1500"/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2000250" y="0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FREQUENCY</a:t>
              </a:r>
              <a:endParaRPr sz="1500"/>
            </a:p>
          </p:txBody>
        </p:sp>
        <p:sp>
          <p:nvSpPr>
            <p:cNvPr id="79" name="Google Shape;79;p13"/>
            <p:cNvSpPr txBox="1"/>
            <p:nvPr/>
          </p:nvSpPr>
          <p:spPr>
            <a:xfrm>
              <a:off x="3200400" y="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EMAIL RECIPIENTS</a:t>
              </a:r>
              <a:endParaRPr sz="1500"/>
            </a:p>
          </p:txBody>
        </p:sp>
        <p:sp>
          <p:nvSpPr>
            <p:cNvPr id="80" name="Google Shape;80;p13"/>
            <p:cNvSpPr txBox="1"/>
            <p:nvPr/>
          </p:nvSpPr>
          <p:spPr>
            <a:xfrm>
              <a:off x="5429250" y="0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NOTE(S)</a:t>
              </a:r>
              <a:endParaRPr sz="1500"/>
            </a:p>
          </p:txBody>
        </p:sp>
      </p:grpSp>
      <p:grpSp>
        <p:nvGrpSpPr>
          <p:cNvPr id="81" name="Google Shape;81;p13"/>
          <p:cNvGrpSpPr/>
          <p:nvPr/>
        </p:nvGrpSpPr>
        <p:grpSpPr>
          <a:xfrm>
            <a:off x="304800" y="2095500"/>
            <a:ext cx="8534400" cy="800100"/>
            <a:chOff x="0" y="0"/>
            <a:chExt cx="8534400" cy="800100"/>
          </a:xfrm>
        </p:grpSpPr>
        <p:sp>
          <p:nvSpPr>
            <p:cNvPr id="82" name="Google Shape;82;p13"/>
            <p:cNvSpPr/>
            <p:nvPr/>
          </p:nvSpPr>
          <p:spPr>
            <a:xfrm>
              <a:off x="0" y="0"/>
              <a:ext cx="8534400" cy="800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83" name="Google Shape;83;p13"/>
            <p:cNvSpPr txBox="1"/>
            <p:nvPr/>
          </p:nvSpPr>
          <p:spPr>
            <a:xfrm>
              <a:off x="152400" y="95250"/>
              <a:ext cx="1714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Invoice</a:t>
              </a:r>
              <a:endParaRPr b="1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4" name="Google Shape;84;p13"/>
            <p:cNvGrpSpPr/>
            <p:nvPr/>
          </p:nvGrpSpPr>
          <p:grpSpPr>
            <a:xfrm>
              <a:off x="2000250" y="266700"/>
              <a:ext cx="723900" cy="247800"/>
              <a:chOff x="0" y="0"/>
              <a:chExt cx="723900" cy="247800"/>
            </a:xfrm>
          </p:grpSpPr>
          <p:sp>
            <p:nvSpPr>
              <p:cNvPr id="85" name="Google Shape;85;p13"/>
              <p:cNvSpPr/>
              <p:nvPr/>
            </p:nvSpPr>
            <p:spPr>
              <a:xfrm>
                <a:off x="0" y="0"/>
                <a:ext cx="7239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/>
              </a:p>
            </p:txBody>
          </p:sp>
          <p:sp>
            <p:nvSpPr>
              <p:cNvPr id="86" name="Google Shape;86;p13"/>
              <p:cNvSpPr txBox="1"/>
              <p:nvPr/>
            </p:nvSpPr>
            <p:spPr>
              <a:xfrm>
                <a:off x="0" y="0"/>
                <a:ext cx="723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369A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Monthly</a:t>
                </a:r>
                <a:endParaRPr sz="1500"/>
              </a:p>
            </p:txBody>
          </p:sp>
        </p:grpSp>
        <p:sp>
          <p:nvSpPr>
            <p:cNvPr id="87" name="Google Shape;87;p13"/>
            <p:cNvSpPr txBox="1"/>
            <p:nvPr/>
          </p:nvSpPr>
          <p:spPr>
            <a:xfrm>
              <a:off x="3200400" y="95250"/>
              <a:ext cx="2095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COR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COTM (if applicable)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ITSProjects@dot.gov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5429250" y="95250"/>
              <a:ext cx="29529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Include Contract Number and Project Name in communication submissions</a:t>
              </a:r>
              <a:endParaRPr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9770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*Separate action from Markview submission</a:t>
              </a:r>
              <a:endParaRPr b="0" sz="900">
                <a:solidFill>
                  <a:srgbClr val="D9770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304800" y="2914650"/>
            <a:ext cx="8534400" cy="1066800"/>
            <a:chOff x="0" y="0"/>
            <a:chExt cx="8534400" cy="106680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8534400" cy="10668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152400" y="95250"/>
              <a:ext cx="17145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Schedule and Performance</a:t>
              </a:r>
              <a:endParaRPr b="1" sz="10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• Monthly Status Report</a:t>
              </a:r>
              <a:endParaRPr sz="9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• Schedule</a:t>
              </a:r>
              <a:endParaRPr sz="9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• Risk Register</a:t>
              </a:r>
              <a:endParaRPr sz="9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2" name="Google Shape;92;p13"/>
            <p:cNvGrpSpPr/>
            <p:nvPr/>
          </p:nvGrpSpPr>
          <p:grpSpPr>
            <a:xfrm>
              <a:off x="2000250" y="409575"/>
              <a:ext cx="723900" cy="247800"/>
              <a:chOff x="0" y="0"/>
              <a:chExt cx="723900" cy="247800"/>
            </a:xfrm>
          </p:grpSpPr>
          <p:sp>
            <p:nvSpPr>
              <p:cNvPr id="93" name="Google Shape;93;p13"/>
              <p:cNvSpPr/>
              <p:nvPr/>
            </p:nvSpPr>
            <p:spPr>
              <a:xfrm>
                <a:off x="0" y="0"/>
                <a:ext cx="7239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/>
              </a:p>
            </p:txBody>
          </p:sp>
          <p:sp>
            <p:nvSpPr>
              <p:cNvPr id="94" name="Google Shape;94;p13"/>
              <p:cNvSpPr txBox="1"/>
              <p:nvPr/>
            </p:nvSpPr>
            <p:spPr>
              <a:xfrm>
                <a:off x="0" y="0"/>
                <a:ext cx="723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0369A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Monthly</a:t>
                </a:r>
                <a:endParaRPr sz="1500"/>
              </a:p>
            </p:txBody>
          </p:sp>
        </p:grpSp>
        <p:sp>
          <p:nvSpPr>
            <p:cNvPr id="95" name="Google Shape;95;p13"/>
            <p:cNvSpPr txBox="1"/>
            <p:nvPr/>
          </p:nvSpPr>
          <p:spPr>
            <a:xfrm>
              <a:off x="3200400" y="95250"/>
              <a:ext cx="20955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COR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COTM (if applicable)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ITSProjects@dot.gov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5429250" y="95250"/>
              <a:ext cx="2952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Include Contract Number and Project Name in communication submissions</a:t>
              </a:r>
              <a:endParaRPr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304800" y="4000500"/>
            <a:ext cx="8534400" cy="914400"/>
            <a:chOff x="0" y="0"/>
            <a:chExt cx="8534400" cy="914400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8534400" cy="914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12500"/>
                  </a:lnTo>
                  <a:cubicBezTo>
                    <a:pt x="120000" y="116643"/>
                    <a:pt x="119640" y="120000"/>
                    <a:pt x="119196" y="120000"/>
                  </a:cubicBezTo>
                  <a:lnTo>
                    <a:pt x="804" y="120000"/>
                  </a:lnTo>
                  <a:cubicBezTo>
                    <a:pt x="360" y="120000"/>
                    <a:pt x="0" y="116643"/>
                    <a:pt x="0" y="11250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152400" y="95250"/>
              <a:ext cx="17145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Deliverable(s)</a:t>
              </a:r>
              <a:endParaRPr b="1" sz="11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00" name="Google Shape;100;p13"/>
            <p:cNvGrpSpPr/>
            <p:nvPr/>
          </p:nvGrpSpPr>
          <p:grpSpPr>
            <a:xfrm>
              <a:off x="2000250" y="333375"/>
              <a:ext cx="1104900" cy="247800"/>
              <a:chOff x="0" y="0"/>
              <a:chExt cx="1104900" cy="247800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0" y="0"/>
                <a:ext cx="1104900" cy="2478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500"/>
              </a:p>
            </p:txBody>
          </p:sp>
          <p:sp>
            <p:nvSpPr>
              <p:cNvPr id="102" name="Google Shape;102;p13"/>
              <p:cNvSpPr txBox="1"/>
              <p:nvPr/>
            </p:nvSpPr>
            <p:spPr>
              <a:xfrm>
                <a:off x="0" y="0"/>
                <a:ext cx="11049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475569"/>
                    </a:solidFill>
                    <a:latin typeface="Roboto"/>
                    <a:ea typeface="Roboto"/>
                    <a:cs typeface="Roboto"/>
                    <a:sym typeface="Roboto"/>
                  </a:rPr>
                  <a:t>As Defined by SOW</a:t>
                </a:r>
                <a:endParaRPr sz="1500"/>
              </a:p>
            </p:txBody>
          </p:sp>
        </p:grpSp>
        <p:sp>
          <p:nvSpPr>
            <p:cNvPr id="103" name="Google Shape;103;p13"/>
            <p:cNvSpPr txBox="1"/>
            <p:nvPr/>
          </p:nvSpPr>
          <p:spPr>
            <a:xfrm>
              <a:off x="3200400" y="95250"/>
              <a:ext cx="20955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COR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COTM (if applicable)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4155"/>
                </a:buClr>
                <a:buSzPts val="950"/>
                <a:buFont typeface="Roboto"/>
                <a:buChar char="●"/>
              </a:pPr>
              <a:r>
                <a:rPr lang="en" sz="9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ITSProjects@dot.gov</a:t>
              </a:r>
              <a:endParaRPr sz="9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5429250" y="95250"/>
              <a:ext cx="29529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Include Contract Number and Project Name in communication submissions</a:t>
              </a:r>
              <a:endParaRPr sz="9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